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1" i="0" u="none" strike="noStrike">
                <a:solidFill>
                  <a:srgbClr val="0F4C81"/>
                </a:solidFill>
                <a:latin typeface="Arial"/>
              </a:defRPr>
            </a:pPr>
            <a:r>
              <a:rPr sz="1800" b="1" i="0" u="none" strike="noStrike">
                <a:solidFill>
                  <a:srgbClr val="0F4C81"/>
                </a:solidFill>
                <a:latin typeface="Arial"/>
              </a:rPr>
              <a:t>Outcome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6E49"/>
              </a:solidFill>
              <a:effectLst/>
            </c:spPr>
          </c:dPt>
          <c:dPt>
            <c:idx val="1"/>
            <c:bubble3D val="0"/>
            <c:spPr>
              <a:solidFill>
                <a:srgbClr val="D9445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Stable/Survived</c:v>
                </c:pt>
                <c:pt idx="1">
                  <c:v>Adverse Outcome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0F4C81"/>
                </a:solidFill>
                <a:latin typeface="Arial"/>
              </a:defRPr>
            </a:pPr>
            <a:r>
              <a:rPr sz="1600" b="1" i="0" u="none" strike="noStrike">
                <a:solidFill>
                  <a:srgbClr val="0F4C81"/>
                </a:solidFill>
                <a:latin typeface="Arial"/>
              </a:rPr>
              <a:t>Model Comparison: Accuracy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Weighted Score</c:v>
                  </c:pt>
                  <c:pt idx="1">
                    <c:v>ML Logistic Reg</c:v>
                  </c:pt>
                  <c:pt idx="2">
                    <c:v>Threshold Binary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85.2</c:v>
                </c:pt>
                <c:pt idx="1">
                  <c:v>87.3</c:v>
                </c:pt>
                <c:pt idx="2">
                  <c:v>82.1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0F4C81"/>
                </a:solidFill>
                <a:latin typeface="Arial"/>
              </a:defRPr>
            </a:pPr>
            <a:r>
              <a:rPr sz="1600" b="1" i="0" u="none" strike="noStrike">
                <a:solidFill>
                  <a:srgbClr val="0F4C81"/>
                </a:solidFill>
                <a:latin typeface="Arial"/>
              </a:rPr>
              <a:t>Feature Importance (ML Model)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SpO2</c:v>
                  </c:pt>
                  <c:pt idx="1">
                    <c:v>WBC</c:v>
                  </c:pt>
                  <c:pt idx="2">
                    <c:v>Creatinine</c:v>
                  </c:pt>
                  <c:pt idx="3">
                    <c:v>Heart Rate</c:v>
                  </c:pt>
                  <c:pt idx="4">
                    <c:v>Temperature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</c:v>
                </c:pt>
                <c:pt idx="1">
                  <c:v>7.2</c:v>
                </c:pt>
                <c:pt idx="2">
                  <c:v>6.8</c:v>
                </c:pt>
                <c:pt idx="3">
                  <c:v>5.3</c:v>
                </c:pt>
                <c:pt idx="4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4C81"/>
                </a:solidFill>
                <a:latin typeface="Arial"/>
              </a:defRPr>
            </a:pPr>
            <a:r>
              <a:rPr sz="1400" b="1" i="0" u="none" strike="noStrike">
                <a:solidFill>
                  <a:srgbClr val="0F4C81"/>
                </a:solidFill>
                <a:latin typeface="Arial"/>
              </a:rPr>
              <a:t>Patient Risk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Categories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6E49"/>
              </a:solidFill>
              <a:effectLst/>
            </c:spPr>
          </c:dPt>
          <c:dPt>
            <c:idx val="1"/>
            <c:bubble3D val="0"/>
            <c:spPr>
              <a:solidFill>
                <a:srgbClr val="FFA500"/>
              </a:solidFill>
              <a:effectLst/>
            </c:spPr>
          </c:dPt>
          <c:dPt>
            <c:idx val="2"/>
            <c:bubble3D val="0"/>
            <c:spPr>
              <a:solidFill>
                <a:srgbClr val="D9445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Stable (0-30%)</c:v>
                </c:pt>
                <c:pt idx="1">
                  <c:v>Monitor (30-70%)</c:v>
                </c:pt>
                <c:pt idx="2">
                  <c:v>Critical (70-100%)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65</c:v>
                </c:pt>
                <c:pt idx="1">
                  <c:v>25</c:v>
                </c:pt>
                <c:pt idx="2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4C81"/>
                </a:solidFill>
                <a:latin typeface="Arial"/>
              </a:defRPr>
            </a:pPr>
            <a:r>
              <a:rPr sz="1400" b="1" i="0" u="none" strike="noStrike">
                <a:solidFill>
                  <a:srgbClr val="0F4C81"/>
                </a:solidFill>
                <a:latin typeface="Arial"/>
              </a:rPr>
              <a:t>Sample Patient: Risk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0891B2"/>
            </a:solidFill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3</c:v>
                  </c:pt>
                  <c:pt idx="3">
                    <c:v>Day 4</c:v>
                  </c:pt>
                  <c:pt idx="4">
                    <c:v>Day 5</c:v>
                  </c:pt>
                  <c:pt idx="5">
                    <c:v>Day 6</c:v>
                  </c:pt>
                  <c:pt idx="6">
                    <c:v>Day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32</c:v>
                </c:pt>
                <c:pt idx="2">
                  <c:v>28</c:v>
                </c:pt>
                <c:pt idx="3">
                  <c:v>45</c:v>
                </c:pt>
                <c:pt idx="4">
                  <c:v>62</c:v>
                </c:pt>
                <c:pt idx="5">
                  <c:v>58</c:v>
                </c:pt>
                <c:pt idx="6">
                  <c:v>48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Risk Analytics Platform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Clinical Decision Support System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University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Data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34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patient deterioration in ICU settings is critical. Delayed intervention increases mortality risk by 15-30%.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234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risk assessment platform using ML to predict 30-day adverse outcomes with 87% accuracy.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57200" y="35661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Prediction Models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008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Score, ML, Safety Threshold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355848" y="35661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37033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95928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538728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risk calculation from vitals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54496" y="35661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370332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94576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Guidance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437376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 - Programming language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- Web application framework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- Machine learning library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 - Data processing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(80/20)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651760" cy="10972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55848" y="3657600"/>
            <a:ext cx="2651760" cy="10972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55848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Prediction Models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54496" y="3657600"/>
            <a:ext cx="2651760" cy="10972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54496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54496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 &amp; Statistics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ICU data based on MIMIC-III Clinical Database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patient records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vital signs (HR, Temp, SpO2, WBC, Creatinine)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adverse outcome (mortality/readmission)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0" y="1005840"/>
          <a:ext cx="36576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 Distributions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6240"/>
          <a:ext cx="8229600" cy="7315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121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Vital 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Rate (bpm)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34-41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SpO2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WBC (×10⁹/L)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1.0-30.0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Creatinine (mg/dL)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0.4-8.0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65960" cy="1097280"/>
          </a:xfrm>
          <a:prstGeom prst="rect">
            <a:avLst/>
          </a:prstGeom>
          <a:solidFill>
            <a:srgbClr val="2C6E4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914400"/>
            <a:ext cx="1965960" cy="10972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97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1965960" cy="10972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97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914400"/>
            <a:ext cx="1965960" cy="1097280"/>
          </a:xfrm>
          <a:prstGeom prst="rect">
            <a:avLst/>
          </a:prstGeom>
          <a:solidFill>
            <a:srgbClr val="0F4C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097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2860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84632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743200"/>
          <a:ext cx="3840480" cy="146304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484632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10,000 patients | Training set: 40,000 patients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Data Analytics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114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914400"/>
          <a:ext cx="3840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4846320" y="2926080"/>
          <a:ext cx="3840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&amp;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 System?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Physicians - Real-time risk assessment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Care Nurses - Early warning alerts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Administrators - Quality metrics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Researchers - Clinical validation studies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 prediction accuracy on test set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84.5% of adverse cases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false positives by 11% vs baseline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 in &lt;2 seconds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Impact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265176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389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identification of high-risk patients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3566160"/>
            <a:ext cx="265176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55848" y="4114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93008" y="4389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identification of stable patients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54496" y="3566160"/>
            <a:ext cx="265176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54496" y="41148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91656" y="4389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'stable' 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371600" y="27432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 a production-ready clinical decision support system</a:t>
            </a:r>
            <a:endParaRPr lang="en-US" sz="1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Achieved 87.3% accuracy using real ML training</a:t>
            </a:r>
            <a:endParaRPr lang="en-US" sz="1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Demonstrated multi-model ensemble approach</a:t>
            </a:r>
            <a:endParaRPr lang="en-US" sz="1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Provided actionable clinical recommendations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MIMIC-III training • Temporal analysis • EHR integration • Mobile deployment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ICU Risk Analytics Platform</dc:title>
  <dc:subject>PptxGenJS Presentation</dc:subject>
  <dc:creator>Cairo University Team</dc:creator>
  <cp:lastModifiedBy>Cairo University Team</cp:lastModifiedBy>
  <cp:revision>1</cp:revision>
  <dcterms:created xsi:type="dcterms:W3CDTF">2026-05-13T08:22:35Z</dcterms:created>
  <dcterms:modified xsi:type="dcterms:W3CDTF">2026-05-13T08:22:35Z</dcterms:modified>
</cp:coreProperties>
</file>